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IONE</a:t>
            </a:r>
          </a:p>
          <a:p>
            <a:pPr algn="ctr">
              <a:defRPr sz="2000">
                <a:solidFill>
                  <a:srgbClr val="FFFFFF"/>
                </a:solidFill>
              </a:defRPr>
            </a:pPr>
            <a:r>
              <a:t>インコヒーレンス指向の中和と抽出</a:t>
            </a:r>
            <a:br/>
            <a:r>
              <a:t>観察研究における隠れた集団構造の検出</a:t>
            </a:r>
          </a:p>
          <a:p/>
          <a:p>
            <a:pPr algn="ctr">
              <a:defRPr sz="1600">
                <a:solidFill>
                  <a:srgbClr val="BBDEFB"/>
                </a:solidFill>
              </a:defRPr>
            </a:pPr>
            <a:r>
              <a:t>図表集</a:t>
            </a:r>
          </a:p>
          <a:p>
            <a:pPr algn="ctr">
              <a:defRPr sz="1400">
                <a:solidFill>
                  <a:srgbClr val="BBDEFB"/>
                </a:solidFill>
              </a:defRPr>
            </a:pPr>
            <a:r>
              <a:t>BMC Medical Research Methodology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因果有向非巡回グラフ（DAG）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333333"/>
                </a:solidFill>
              </a:defRPr>
            </a:pPr>
            <a:r>
              <a:t>データ生成メカニズム：Z（重大変数）→ X（一般変数）→ Y（アウトカム）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017520" y="3200400"/>
            <a:ext cx="1463040" cy="0"/>
          </a:xfrm>
          <a:prstGeom prst="line">
            <a:avLst/>
          </a:prstGeom>
          <a:ln w="38100">
            <a:solidFill>
              <a:srgbClr val="9467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223760" y="3200400"/>
            <a:ext cx="1371600" cy="0"/>
          </a:xfrm>
          <a:prstGeom prst="line">
            <a:avLst/>
          </a:prstGeom>
          <a:ln w="38100">
            <a:solidFill>
              <a:srgbClr val="9467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3017520" y="3840480"/>
            <a:ext cx="5577840" cy="1188720"/>
          </a:xfrm>
          <a:prstGeom prst="line">
            <a:avLst/>
          </a:prstGeom>
          <a:ln w="25400">
            <a:solidFill>
              <a:srgbClr val="FF7F0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108960" y="24688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9467BD"/>
                </a:solidFill>
              </a:defRPr>
            </a:pPr>
            <a:r>
              <a:t>Z → X</a:t>
            </a:r>
          </a:p>
          <a:p>
            <a:pPr algn="ctr">
              <a:defRPr sz="1000">
                <a:solidFill>
                  <a:srgbClr val="9467BD"/>
                </a:solidFill>
              </a:defRPr>
            </a:pPr>
            <a:r>
              <a:t>(α_jl)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06640" y="246888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9467BD"/>
                </a:solidFill>
              </a:defRPr>
            </a:pPr>
            <a:r>
              <a:t>X → Y</a:t>
            </a:r>
          </a:p>
          <a:p>
            <a:pPr algn="ctr">
              <a:defRPr sz="1000">
                <a:solidFill>
                  <a:srgbClr val="9467BD"/>
                </a:solidFill>
              </a:defRPr>
            </a:pPr>
            <a:r>
              <a:t>(β_Xj)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603504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7F0E"/>
                </a:solidFill>
              </a:defRPr>
            </a:pPr>
            <a:r>
              <a:t>Z → Y（直接効果：β_Zl, OR 1.5–3.0）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46304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F77B4"/>
                </a:solidFill>
              </a:defRPr>
            </a:pPr>
            <a:r>
              <a:t>重大変数 Z（意図的に除外）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32588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2CA02C"/>
                </a:solidFill>
              </a:defRPr>
            </a:pPr>
            <a:r>
              <a:t>一般変数 X（測定済み）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228600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D62728"/>
                </a:solidFill>
              </a:defRPr>
            </a:pPr>
            <a:r>
              <a:t>アウトカム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1920240"/>
            <a:ext cx="2011680" cy="822960"/>
          </a:xfrm>
          <a:prstGeom prst="roundRect">
            <a:avLst/>
          </a:prstGeom>
          <a:solidFill>
            <a:srgbClr val="E3F2FD"/>
          </a:solidFill>
          <a:ln w="2540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F77B4"/>
                </a:solidFill>
              </a:defRPr>
            </a:pPr>
            <a:r>
              <a:t>Z₁（年齢）</a:t>
            </a:r>
          </a:p>
          <a:p>
            <a:pPr algn="ctr">
              <a:defRPr sz="1000">
                <a:solidFill>
                  <a:srgbClr val="333333"/>
                </a:solidFill>
              </a:defRPr>
            </a:pPr>
            <a:r>
              <a:t>N(60, 12²)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3291840"/>
            <a:ext cx="2011680" cy="822960"/>
          </a:xfrm>
          <a:prstGeom prst="roundRect">
            <a:avLst/>
          </a:prstGeom>
          <a:solidFill>
            <a:srgbClr val="E3F2FD"/>
          </a:solidFill>
          <a:ln w="2540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F77B4"/>
                </a:solidFill>
              </a:defRPr>
            </a:pPr>
            <a:r>
              <a:t>Z₂（性別）</a:t>
            </a:r>
          </a:p>
          <a:p>
            <a:pPr algn="ctr">
              <a:defRPr sz="1000">
                <a:solidFill>
                  <a:srgbClr val="333333"/>
                </a:solidFill>
              </a:defRPr>
            </a:pPr>
            <a:r>
              <a:t>Bernoulli(0.5)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663440"/>
            <a:ext cx="2011680" cy="822960"/>
          </a:xfrm>
          <a:prstGeom prst="roundRect">
            <a:avLst/>
          </a:prstGeom>
          <a:solidFill>
            <a:srgbClr val="E3F2FD"/>
          </a:solidFill>
          <a:ln w="2540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F77B4"/>
                </a:solidFill>
              </a:defRPr>
            </a:pPr>
            <a:r>
              <a:t>Z₃（BMI区分）</a:t>
            </a:r>
          </a:p>
          <a:p>
            <a:pPr algn="ctr">
              <a:defRPr sz="1000">
                <a:solidFill>
                  <a:srgbClr val="333333"/>
                </a:solidFill>
              </a:defRPr>
            </a:pPr>
            <a:r>
              <a:t>3水準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0" y="1737360"/>
            <a:ext cx="2560320" cy="384048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2CA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333333"/>
                </a:solidFill>
              </a:defRPr>
            </a:pPr>
            <a:r>
              <a:t>X₁（HbA1c）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0" y="2194560"/>
            <a:ext cx="2560320" cy="384048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2CA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333333"/>
                </a:solidFill>
              </a:defRPr>
            </a:pPr>
            <a:r>
              <a:t>X₂（コレステロール）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0" y="2651760"/>
            <a:ext cx="2560320" cy="384048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2CA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333333"/>
                </a:solidFill>
              </a:defRPr>
            </a:pPr>
            <a:r>
              <a:t>X₃（収縮期血圧）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0" y="3108960"/>
            <a:ext cx="2560320" cy="384048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2CA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333333"/>
                </a:solidFill>
              </a:defRPr>
            </a:pPr>
            <a:r>
              <a:t>X₄（ALT）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0" y="3566160"/>
            <a:ext cx="2560320" cy="384048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2CA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333333"/>
                </a:solidFill>
              </a:defRPr>
            </a:pPr>
            <a:r>
              <a:t>X₅（クレアチニン）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0" y="4023360"/>
            <a:ext cx="2560320" cy="384048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2CA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333333"/>
                </a:solidFill>
              </a:defRPr>
            </a:pPr>
            <a:r>
              <a:t>X₆（ヘモグロビン）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0" y="4480560"/>
            <a:ext cx="2560320" cy="384048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2CA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333333"/>
                </a:solidFill>
              </a:defRPr>
            </a:pPr>
            <a:r>
              <a:t>X₇（白血球数）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0" y="4937760"/>
            <a:ext cx="2560320" cy="384048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2CA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333333"/>
                </a:solidFill>
              </a:defRPr>
            </a:pPr>
            <a:r>
              <a:t>X₈（アルブミン）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0" y="5394960"/>
            <a:ext cx="2560320" cy="384048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2CA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333333"/>
                </a:solidFill>
              </a:defRPr>
            </a:pPr>
            <a:r>
              <a:t>X₉（CRP）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0" y="5852160"/>
            <a:ext cx="2560320" cy="384048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2CA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333333"/>
                </a:solidFill>
              </a:defRPr>
            </a:pPr>
            <a:r>
              <a:t>X₁₀（尿酸）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686800" y="2743200"/>
            <a:ext cx="2286000" cy="1097280"/>
          </a:xfrm>
          <a:prstGeom prst="roundRect">
            <a:avLst/>
          </a:prstGeom>
          <a:solidFill>
            <a:srgbClr val="FCE4EC"/>
          </a:solidFill>
          <a:ln w="25400">
            <a:solidFill>
              <a:srgbClr val="D627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D62728"/>
                </a:solidFill>
              </a:defRPr>
            </a:pPr>
            <a:r>
              <a:t>Y（二値アウトカム）</a:t>
            </a:r>
          </a:p>
          <a:p>
            <a:pPr algn="ctr">
              <a:defRPr sz="1000">
                <a:solidFill>
                  <a:srgbClr val="333333"/>
                </a:solidFill>
              </a:defRPr>
            </a:pPr>
            <a:r>
              <a:t>イベント率 10–20%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IONEフレームワーク：二段階ワークフロー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333333"/>
                </a:solidFill>
              </a:defRPr>
            </a:pPr>
            <a:r>
              <a:t>第1段階：検出（C1コヒーレンス指標）→ 第2段階：抽出（層別化）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468880" y="3474720"/>
            <a:ext cx="274320" cy="0"/>
          </a:xfrm>
          <a:prstGeom prst="line">
            <a:avLst/>
          </a:prstGeom>
          <a:ln w="381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5669280" y="3474720"/>
            <a:ext cx="274320" cy="0"/>
          </a:xfrm>
          <a:prstGeom prst="line">
            <a:avLst/>
          </a:prstGeom>
          <a:ln w="381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8869680" y="3474720"/>
            <a:ext cx="274320" cy="0"/>
          </a:xfrm>
          <a:prstGeom prst="line">
            <a:avLst/>
          </a:prstGeom>
          <a:ln w="381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iamond 6"/>
          <p:cNvSpPr/>
          <p:nvPr/>
        </p:nvSpPr>
        <p:spPr>
          <a:xfrm>
            <a:off x="3291840" y="5486400"/>
            <a:ext cx="1645920" cy="914400"/>
          </a:xfrm>
          <a:prstGeom prst="diamond">
            <a:avLst/>
          </a:prstGeom>
          <a:solidFill>
            <a:srgbClr val="FFF3E0"/>
          </a:solidFill>
          <a:ln w="25400">
            <a:solidFill>
              <a:srgbClr val="FF7F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7F0E"/>
                </a:solidFill>
              </a:defRPr>
            </a:pPr>
            <a:r>
              <a:t>C1 &lt; 0.05?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566928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CA02C"/>
                </a:solidFill>
              </a:defRPr>
            </a:pPr>
            <a:r>
              <a:t>はい 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6692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62728"/>
                </a:solidFill>
              </a:defRPr>
            </a:pPr>
            <a:r>
              <a:t>← いいえ（コヒーレント）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1828800"/>
            <a:ext cx="2103120" cy="3200400"/>
          </a:xfrm>
          <a:prstGeom prst="roundRect">
            <a:avLst/>
          </a:prstGeom>
          <a:solidFill>
            <a:srgbClr val="E0E0E0"/>
          </a:solidFill>
          <a:ln w="254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33333"/>
                </a:solidFill>
              </a:defRPr>
            </a:pPr>
            <a:r>
              <a:t>入力データ</a:t>
            </a:r>
          </a:p>
          <a:p/>
          <a:p>
            <a:pPr algn="l">
              <a:defRPr sz="1000">
                <a:solidFill>
                  <a:srgbClr val="333333"/>
                </a:solidFill>
              </a:defRPr>
            </a:pPr>
            <a:r>
              <a:t>観察研究</a:t>
            </a:r>
            <a:br/>
            <a:r>
              <a:t>N個の観測</a:t>
            </a:r>
            <a:br/>
            <a:r>
              <a:t>X1...X10（測定済み）</a:t>
            </a:r>
            <a:br/>
            <a:r>
              <a:t>Y（アウトカム）</a:t>
            </a:r>
            <a:br/>
            <a:r>
              <a:t>（Zは未測定）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34640" y="1463040"/>
            <a:ext cx="2743200" cy="3840480"/>
          </a:xfrm>
          <a:prstGeom prst="roundRect">
            <a:avLst/>
          </a:prstGeom>
          <a:solidFill>
            <a:srgbClr val="E3F2FD"/>
          </a:solidFill>
          <a:ln w="2540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F77B4"/>
                </a:solidFill>
              </a:defRPr>
            </a:pPr>
            <a:r>
              <a:t>第1段階：検出</a:t>
            </a:r>
          </a:p>
          <a:p/>
          <a:p>
            <a:pPr algn="l">
              <a:defRPr sz="1000">
                <a:solidFill>
                  <a:srgbClr val="333333"/>
                </a:solidFill>
              </a:defRPr>
            </a:pPr>
            <a:r>
              <a:t>C1コヒーレンス指標を</a:t>
            </a:r>
            <a:br/>
            <a:r>
              <a:t>I^2異質性統計量から算出</a:t>
            </a:r>
            <a:br/>
            <a:br/>
            <a:r>
              <a:t>C1 &lt; 0.05 -&gt; インコヒーレント</a:t>
            </a:r>
            <a:br/>
            <a:r>
              <a:t>C1 &gt;= 0.05 -&gt; コヒーレント</a:t>
            </a:r>
            <a:br/>
            <a:br/>
            <a:r>
              <a:t>「警告」機能</a:t>
            </a:r>
            <a:br/>
            <a:r>
              <a:t>仮定不要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0" y="1463040"/>
            <a:ext cx="2743200" cy="384048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2CA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CA02C"/>
                </a:solidFill>
              </a:defRPr>
            </a:pPr>
            <a:r>
              <a:t>第2段階：抽出</a:t>
            </a:r>
          </a:p>
          <a:p/>
          <a:p>
            <a:pPr algn="l">
              <a:defRPr sz="1000">
                <a:solidFill>
                  <a:srgbClr val="333333"/>
                </a:solidFill>
              </a:defRPr>
            </a:pPr>
            <a:r>
              <a:t>インコヒーレントな場合：</a:t>
            </a:r>
            <a:br/>
            <a:br/>
            <a:r>
              <a:t>ファミリー1（決定力ベース）</a:t>
            </a:r>
            <a:br/>
            <a:r>
              <a:t>  1A 予測確率</a:t>
            </a:r>
            <a:br/>
            <a:r>
              <a:t>  1B 残差</a:t>
            </a:r>
            <a:br/>
            <a:r>
              <a:t>  1C 交差検証型</a:t>
            </a:r>
            <a:br/>
            <a:r>
              <a:t>  1D ML不確実性</a:t>
            </a:r>
            <a:br/>
            <a:br/>
            <a:r>
              <a:t>ファミリー2（特徴量得点ベース）</a:t>
            </a:r>
            <a:br/>
            <a:r>
              <a:t>  2A PCA</a:t>
            </a:r>
            <a:br/>
            <a:r>
              <a:t>  2B クラスタリング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35440" y="1828800"/>
            <a:ext cx="2560320" cy="3200400"/>
          </a:xfrm>
          <a:prstGeom prst="roundRect">
            <a:avLst/>
          </a:prstGeom>
          <a:solidFill>
            <a:srgbClr val="FCE4EC"/>
          </a:solidFill>
          <a:ln w="25400">
            <a:solidFill>
              <a:srgbClr val="D627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D62728"/>
                </a:solidFill>
              </a:defRPr>
            </a:pPr>
            <a:r>
              <a:t>出力</a:t>
            </a:r>
          </a:p>
          <a:p/>
          <a:p>
            <a:pPr algn="l">
              <a:defRPr sz="1000">
                <a:solidFill>
                  <a:srgbClr val="333333"/>
                </a:solidFill>
              </a:defRPr>
            </a:pPr>
            <a:r>
              <a:t>コヒーレントな部分集団</a:t>
            </a:r>
            <a:br/>
            <a:r>
              <a:t>による正しい推論</a:t>
            </a:r>
            <a:br/>
            <a:br/>
            <a:r>
              <a:t>バイアスの軽減</a:t>
            </a:r>
            <a:br/>
            <a:r>
              <a:t>パラドックスの解消</a:t>
            </a:r>
            <a:br/>
            <a:r>
              <a:t>効果修飾の検出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IONE手法の概観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333333"/>
                </a:solidFill>
              </a:defRPr>
            </a:pPr>
            <a:r>
              <a:t>2ファミリーの層別化手法 + ベースライン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3200400" cy="822960"/>
          </a:xfrm>
          <a:prstGeom prst="round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ファミリー1：決定力ベース</a:t>
            </a:r>
            <a:br/>
            <a:r>
              <a:t>（アウトカム使用）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0" y="1463040"/>
            <a:ext cx="3200400" cy="822960"/>
          </a:xfrm>
          <a:prstGeom prst="roundRect">
            <a:avLst/>
          </a:prstGeom>
          <a:solidFill>
            <a:srgbClr val="2C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ファミリー2：特徴量得点ベース</a:t>
            </a:r>
            <a:br/>
            <a:r>
              <a:t>（アウトカム不使用）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0" y="1463040"/>
            <a:ext cx="3200400" cy="822960"/>
          </a:xfrm>
          <a:prstGeom prst="round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ベースライン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468880"/>
            <a:ext cx="320040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F77B4"/>
                </a:solidFill>
              </a:defRPr>
            </a:pPr>
            <a:r>
              <a:t>1A：予測確率</a:t>
            </a:r>
          </a:p>
          <a:p>
            <a:pPr>
              <a:defRPr sz="900">
                <a:solidFill>
                  <a:srgbClr val="333333"/>
                </a:solidFill>
              </a:defRPr>
            </a:pPr>
            <a:r>
              <a:t>ロジスティック回帰 P(Y|X) → 分位層別化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520440"/>
            <a:ext cx="320040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F77B4"/>
                </a:solidFill>
              </a:defRPr>
            </a:pPr>
            <a:r>
              <a:t>1B：残差</a:t>
            </a:r>
          </a:p>
          <a:p>
            <a:pPr>
              <a:defRPr sz="900">
                <a:solidFill>
                  <a:srgbClr val="333333"/>
                </a:solidFill>
              </a:defRPr>
            </a:pPr>
            <a:r>
              <a:t>|Y − p̂| → 分位層別化（最も頑健）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572000"/>
            <a:ext cx="320040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F77B4"/>
                </a:solidFill>
              </a:defRPr>
            </a:pPr>
            <a:r>
              <a:t>1C：交差検証型</a:t>
            </a:r>
          </a:p>
          <a:p>
            <a:pPr>
              <a:defRPr sz="900">
                <a:solidFill>
                  <a:srgbClr val="333333"/>
                </a:solidFill>
              </a:defRPr>
            </a:pPr>
            <a:r>
              <a:t>K-fold CVで過学習を回避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5623560"/>
            <a:ext cx="320040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F77B4"/>
                </a:solidFill>
              </a:defRPr>
            </a:pPr>
            <a:r>
              <a:t>1D：ML不確実性</a:t>
            </a:r>
          </a:p>
          <a:p>
            <a:pPr>
              <a:defRPr sz="900">
                <a:solidFill>
                  <a:srgbClr val="333333"/>
                </a:solidFill>
              </a:defRPr>
            </a:pPr>
            <a:r>
              <a:t>ランダムフォレスト予測分散 → 層別化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2468880"/>
            <a:ext cx="320040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CA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CA02C"/>
                </a:solidFill>
              </a:defRPr>
            </a:pPr>
            <a:r>
              <a:t>2A：PCA</a:t>
            </a:r>
          </a:p>
          <a:p>
            <a:pPr>
              <a:defRPr sz="900">
                <a:solidFill>
                  <a:srgbClr val="333333"/>
                </a:solidFill>
              </a:defRPr>
            </a:pPr>
            <a:r>
              <a:t>第1主成分得点 → 分位層別化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3520440"/>
            <a:ext cx="320040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CA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CA02C"/>
                </a:solidFill>
              </a:defRPr>
            </a:pPr>
            <a:r>
              <a:t>2B：クラスタリング</a:t>
            </a:r>
          </a:p>
          <a:p>
            <a:pPr>
              <a:defRPr sz="900">
                <a:solidFill>
                  <a:srgbClr val="333333"/>
                </a:solidFill>
              </a:defRPr>
            </a:pPr>
            <a:r>
              <a:t>k-means on X → クラスタ＝層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0" y="2468880"/>
            <a:ext cx="320040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33333"/>
                </a:solidFill>
              </a:defRPr>
            </a:pPr>
            <a:r>
              <a:t>ランダム：無作為割当（下限）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0" y="3520440"/>
            <a:ext cx="320040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33333"/>
                </a:solidFill>
              </a:defRPr>
            </a:pPr>
            <a:r>
              <a:t>Oracle：k-means on Z（上限）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IONE適用ガイダンス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333333"/>
                </a:solidFill>
              </a:defRPr>
            </a:pPr>
            <a:r>
              <a:t>η²とサブグループ構造に基づく判断フレームワーク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91840" y="2286000"/>
            <a:ext cx="365760" cy="0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6766560" y="2286000"/>
            <a:ext cx="365760" cy="0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291840" y="3931920"/>
            <a:ext cx="365760" cy="0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6766560" y="3931920"/>
            <a:ext cx="365760" cy="0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291840" y="5577840"/>
            <a:ext cx="365760" cy="0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766560" y="5577840"/>
            <a:ext cx="365760" cy="0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57200" y="1645920"/>
            <a:ext cx="2743200" cy="1280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CA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2CA02C"/>
                </a:solidFill>
              </a:defRPr>
            </a:pPr>
            <a:r>
              <a:t>η² &gt; 0.4</a:t>
            </a:r>
            <a:br/>
            <a:r>
              <a:t>2〜3の離散的サブグループ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49039" y="1645920"/>
            <a:ext cx="2926080" cy="128016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2CA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33333"/>
                </a:solidFill>
              </a:defRPr>
            </a:pPr>
            <a:r>
              <a:t>特徴量得点ベース</a:t>
            </a:r>
            <a:br/>
            <a:r>
              <a:t>クラスタリング（2B）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23760" y="1645920"/>
            <a:ext cx="228600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CA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2CA02C"/>
                </a:solidFill>
              </a:defRPr>
            </a:pPr>
            <a:r>
              <a:t>期待値: ARI &gt; 0.7</a:t>
            </a:r>
          </a:p>
          <a:p>
            <a:pPr algn="ctr">
              <a:defRPr sz="1000">
                <a:solidFill>
                  <a:srgbClr val="333333"/>
                </a:solidFill>
              </a:defRPr>
            </a:pPr>
            <a:r>
              <a:t>腎結石、イスラエルワクチン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291840"/>
            <a:ext cx="2743200" cy="1280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7F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7F0E"/>
                </a:solidFill>
              </a:defRPr>
            </a:pPr>
            <a:r>
              <a:t>0.15 &lt; η² ≤ 0.4</a:t>
            </a:r>
            <a:br/>
            <a:r>
              <a:t>多群・連続的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749039" y="3291840"/>
            <a:ext cx="2926080" cy="128016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FF7F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33333"/>
                </a:solidFill>
              </a:defRPr>
            </a:pPr>
            <a:r>
              <a:t>決定力ベース（1A, 1B）</a:t>
            </a:r>
            <a:br/>
            <a:r>
              <a:t>両ファミリー推奨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23760" y="3291840"/>
            <a:ext cx="228600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7F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7F0E"/>
                </a:solidFill>
              </a:defRPr>
            </a:pPr>
            <a:r>
              <a:t>期待値: ARI 0.1–0.5</a:t>
            </a:r>
          </a:p>
          <a:p>
            <a:pPr algn="ctr">
              <a:defRPr sz="1000">
                <a:solidFill>
                  <a:srgbClr val="333333"/>
                </a:solidFill>
              </a:defRPr>
            </a:pPr>
            <a:r>
              <a:t>喫煙・死亡率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937760"/>
            <a:ext cx="2743200" cy="1280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627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D62728"/>
                </a:solidFill>
              </a:defRPr>
            </a:pPr>
            <a:r>
              <a:t>η² &lt; 0.15</a:t>
            </a:r>
            <a:br/>
            <a:r>
              <a:t>弱い痕跡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49039" y="4937760"/>
            <a:ext cx="2926080" cy="128016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D627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33333"/>
                </a:solidFill>
              </a:defRPr>
            </a:pPr>
            <a:r>
              <a:t>C1検出のみ</a:t>
            </a:r>
            <a:br/>
            <a:r>
              <a:t>抽出は限定的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23760" y="4937760"/>
            <a:ext cx="228600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27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D62728"/>
                </a:solidFill>
              </a:defRPr>
            </a:pPr>
            <a:r>
              <a:t>期待値: ARI &lt; 0.1</a:t>
            </a:r>
          </a:p>
          <a:p>
            <a:pPr algn="ctr">
              <a:defRPr sz="1000">
                <a:solidFill>
                  <a:srgbClr val="333333"/>
                </a:solidFill>
              </a:defRPr>
            </a:pPr>
            <a:r>
              <a:t>COVID-19、バークレー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表1. 既報シンプソンのパラドックス事例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333333"/>
                </a:solidFill>
              </a:defRPr>
            </a:pPr>
            <a:r>
              <a:t>実データ検証に使用した5つの事例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75207" y="1371600"/>
          <a:ext cx="1024128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731520"/>
                <a:gridCol w="1188720"/>
                <a:gridCol w="548640"/>
                <a:gridCol w="50292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事例</a:t>
                      </a:r>
                    </a:p>
                  </a:txBody>
                  <a:tcPr anchor="ctr"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出典</a:t>
                      </a:r>
                    </a:p>
                  </a:txBody>
                  <a:tcPr anchor="ctr"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N</a:t>
                      </a:r>
                    </a:p>
                  </a:txBody>
                  <a:tcPr anchor="ctr"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隠れた交絡因子</a:t>
                      </a:r>
                    </a:p>
                  </a:txBody>
                  <a:tcPr anchor="ctr"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群数</a:t>
                      </a:r>
                    </a:p>
                  </a:txBody>
                  <a:tcPr anchor="ctr"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パラドックスの内容</a:t>
                      </a:r>
                    </a:p>
                  </a:txBody>
                  <a:tcPr anchor="ctr">
                    <a:solidFill>
                      <a:srgbClr val="1F77B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COVID-19致死率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von Kugelgen 2021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50,459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年齢群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全体ではイタリア＞中国だが、各年齢群ではイタリア＜中国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腎結石治療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Charig 1986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700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結石サイズ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全体ではB＞Aだが、大小とも A＞B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UCバークレー入学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Bickel 1975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4,425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学部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全体では男性＞女性だが、多くの学部では逆転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イスラエルワクチン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Morris 2021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6,100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年齢群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全体ではワクチン無効だが、両群で有効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喫煙・死亡率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Appleton 1996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1,314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年齢群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全体では喫煙者が低死亡率だが、各群で高死亡率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表2. Phase 1シミュレーション 手法別性能ランキング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333333"/>
                </a:solidFill>
              </a:defRPr>
            </a:pPr>
            <a:r>
              <a:t>全シナリオ平均（N=2,000；シナリオあたり200反復）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209647" y="1371600"/>
          <a:ext cx="777240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2286000"/>
                <a:gridCol w="1828800"/>
                <a:gridCol w="731520"/>
                <a:gridCol w="731520"/>
                <a:gridCol w="914400"/>
                <a:gridCol w="73152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順位</a:t>
                      </a:r>
                    </a:p>
                  </a:txBody>
                  <a:tcPr anchor="ctr"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手法</a:t>
                      </a:r>
                    </a:p>
                  </a:txBody>
                  <a:tcPr anchor="ctr"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ファミリー</a:t>
                      </a:r>
                    </a:p>
                  </a:txBody>
                  <a:tcPr anchor="ctr"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ARI</a:t>
                      </a:r>
                    </a:p>
                  </a:txBody>
                  <a:tcPr anchor="ctr"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NMI</a:t>
                      </a:r>
                    </a:p>
                  </a:txBody>
                  <a:tcPr anchor="ctr"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η²（平均）</a:t>
                      </a:r>
                    </a:p>
                  </a:txBody>
                  <a:tcPr anchor="ctr"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C1</a:t>
                      </a:r>
                    </a:p>
                  </a:txBody>
                  <a:tcPr anchor="ctr">
                    <a:solidFill>
                      <a:srgbClr val="1F77B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Oracle（k-means on Z）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ベースライン（上限）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0.353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0.616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0.562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0.019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Oracle（quantile on Z）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ベースライン（上限）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0.073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0.260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0.283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0.010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1B：残差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決定力ベース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0.020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0.069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0.091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0.001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1D：ML不確実性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決定力ベース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0.017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0.056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0.074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0.001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1A：予測確率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決定力ベース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0.014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0.053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0.069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0.022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1C：交差検証型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決定力ベース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0.014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0.051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0.067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0.028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2A：PCA（k=2）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特徴量得点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0.012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0.042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0.052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0.098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2A：PCA（k=1）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特徴量得点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0.011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0.047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0.063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0.095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2B：クラスタリング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特徴量得点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0.011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0.041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0.053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0.079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ランダム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ベースライン（下限）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-0.000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0.007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0.002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0.863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表3. Z→X影響度別ARI（K=5層）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333333"/>
                </a:solidFill>
              </a:defRPr>
            </a:pPr>
            <a:r>
              <a:t>Z→X影響度が性能の最大の決定因子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798167" y="1371600"/>
          <a:ext cx="859536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645920"/>
                <a:gridCol w="1645920"/>
                <a:gridCol w="1645920"/>
                <a:gridCol w="13716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手法</a:t>
                      </a:r>
                    </a:p>
                  </a:txBody>
                  <a:tcPr anchor="ctr"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zx=0.3（弱）</a:t>
                      </a:r>
                    </a:p>
                  </a:txBody>
                  <a:tcPr anchor="ctr"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zx=0.5（中）</a:t>
                      </a:r>
                    </a:p>
                  </a:txBody>
                  <a:tcPr anchor="ctr"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zx=1.0（強）</a:t>
                      </a:r>
                    </a:p>
                  </a:txBody>
                  <a:tcPr anchor="ctr"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強/弱比</a:t>
                      </a:r>
                    </a:p>
                  </a:txBody>
                  <a:tcPr anchor="ctr">
                    <a:solidFill>
                      <a:srgbClr val="1F77B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1A：予測確率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0.004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0.010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0.030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8.7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1B：残差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0.014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0.018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0.029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1.9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1C：交差検証型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0.003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0.009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0.029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9.6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2A：PCA（k=2）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0.002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0.006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0.029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18.3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2B：クラスタリング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0.002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0.006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0.025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14.0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Oracle（k-means on Z）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0.378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0.378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0.380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1.0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表4. 重大変数別イータ二乗η²（K=5, zx=1.0）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333333"/>
                </a:solidFill>
              </a:defRPr>
            </a:pPr>
            <a:r>
              <a:t>年齢（連続）の捕捉が最良、性別（二値）は困難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209647" y="1371600"/>
          <a:ext cx="77724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1371600"/>
                <a:gridCol w="1371600"/>
                <a:gridCol w="1371600"/>
                <a:gridCol w="109728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手法</a:t>
                      </a:r>
                    </a:p>
                  </a:txBody>
                  <a:tcPr anchor="ctr"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Z1（年齢）</a:t>
                      </a:r>
                    </a:p>
                  </a:txBody>
                  <a:tcPr anchor="ctr"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Z2（性別）</a:t>
                      </a:r>
                    </a:p>
                  </a:txBody>
                  <a:tcPr anchor="ctr"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Z3（BMI）</a:t>
                      </a:r>
                    </a:p>
                  </a:txBody>
                  <a:tcPr anchor="ctr"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平均</a:t>
                      </a:r>
                    </a:p>
                  </a:txBody>
                  <a:tcPr anchor="ctr">
                    <a:solidFill>
                      <a:srgbClr val="1F77B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Oracle（k-means on Z）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0.312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0.982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0.663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0.652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1A：予測確率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0.327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0.008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0.092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0.142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1C：交差検証型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0.322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0.007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0.090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0.140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1B：残差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0.295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0.012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0.093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0.133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2B：クラスタリング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0.238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0.026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0.090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0.118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ランダム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0.002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0.002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0.002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0.002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表5. 感度分析におけるZ→X影響度別ARI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333333"/>
                </a:solidFill>
              </a:defRPr>
            </a:pPr>
            <a:r>
              <a:t>Z→X影響度が最重要パラメータであることを確認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798167" y="1371600"/>
          <a:ext cx="85953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645920"/>
                <a:gridCol w="1645920"/>
                <a:gridCol w="1645920"/>
                <a:gridCol w="13716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手法</a:t>
                      </a:r>
                    </a:p>
                  </a:txBody>
                  <a:tcPr anchor="ctr"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zx=0.2（弱）</a:t>
                      </a:r>
                    </a:p>
                  </a:txBody>
                  <a:tcPr anchor="ctr"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zx=0.5（中）</a:t>
                      </a:r>
                    </a:p>
                  </a:txBody>
                  <a:tcPr anchor="ctr"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zx=1.0（強）</a:t>
                      </a:r>
                    </a:p>
                  </a:txBody>
                  <a:tcPr anchor="ctr"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強/弱比</a:t>
                      </a:r>
                    </a:p>
                  </a:txBody>
                  <a:tcPr anchor="ctr">
                    <a:solidFill>
                      <a:srgbClr val="1F77B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1A：予測確率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0.002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0.009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0.028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17.5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1C：交差検証型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0.001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0.008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0.027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22.3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2B：クラスタリング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0.001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0.006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0.024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34.3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2A：PCA（60%）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0.001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0.004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0.015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30.8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図1. ARI・NMIヒートマップ（Phase 1シミュレーション）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333333"/>
                </a:solidFill>
              </a:defRPr>
            </a:pPr>
            <a:r>
              <a:t>全Phase 1条件における手法×シナリオの性能</a:t>
            </a:r>
          </a:p>
        </p:txBody>
      </p:sp>
      <p:pic>
        <p:nvPicPr>
          <p:cNvPr id="4" name="Picture 3" descr="heatmap_ari_nm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3547" y="1280160"/>
            <a:ext cx="6564601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図2. Z→X影響度の効果（感度分析）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333333"/>
                </a:solidFill>
              </a:defRPr>
            </a:pPr>
            <a:r>
              <a:t>弱条件から強条件でARIが最大18倍に増加</a:t>
            </a:r>
          </a:p>
        </p:txBody>
      </p:sp>
      <p:pic>
        <p:nvPicPr>
          <p:cNvPr id="4" name="Picture 3" descr="sensitivity_zx_influ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8719" y="1280160"/>
            <a:ext cx="8894257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図3. 手法別・重大変数別イータ二乗（η²）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333333"/>
                </a:solidFill>
              </a:defRPr>
            </a:pPr>
            <a:r>
              <a:t>年齢（連続）&gt;&gt; BMI（順序）&gt;&gt; 性別（二値）の差分捕捉</a:t>
            </a:r>
          </a:p>
        </p:txBody>
      </p:sp>
      <p:pic>
        <p:nvPicPr>
          <p:cNvPr id="4" name="Picture 3" descr="eta_squa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047" y="1280160"/>
            <a:ext cx="10515600" cy="364963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図4. 手法別コヒーレンス指標C1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333333"/>
                </a:solidFill>
              </a:defRPr>
            </a:pPr>
            <a:r>
              <a:t>低C1 = インコヒーレンス検出成功；提案手法C1~0.001 vs ランダムC1~0.863</a:t>
            </a:r>
          </a:p>
        </p:txBody>
      </p:sp>
      <p:pic>
        <p:nvPicPr>
          <p:cNvPr id="4" name="Picture 3" descr="coherence_diagno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047" y="1280160"/>
            <a:ext cx="10515600" cy="348170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図5. サンプルサイズの効果（感度分析）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333333"/>
                </a:solidFill>
              </a:defRPr>
            </a:pPr>
            <a:r>
              <a:t>N=500からN=10,000まで性能はほぼ一定</a:t>
            </a:r>
          </a:p>
        </p:txBody>
      </p:sp>
      <p:pic>
        <p:nvPicPr>
          <p:cNvPr id="4" name="Picture 3" descr="sensitivity_sample_siz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8719" y="1280160"/>
            <a:ext cx="8894257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図6. Phase 1シミュレーション サマリーダッシュボード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333333"/>
                </a:solidFill>
              </a:defRPr>
            </a:pPr>
            <a:r>
              <a:t>全手法・全条件のシミュレーション結果の総括</a:t>
            </a:r>
          </a:p>
        </p:txBody>
      </p:sp>
      <p:pic>
        <p:nvPicPr>
          <p:cNvPr id="4" name="Picture 3" descr="summary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1431" y="1280160"/>
            <a:ext cx="5988832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表6. 実データ検証結果サマリー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333333"/>
                </a:solidFill>
              </a:defRPr>
            </a:pPr>
            <a:r>
              <a:t>5つの既報シンプソンのパラドックス事例へのIONE適用結果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255367" y="1371600"/>
          <a:ext cx="768096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822960"/>
                <a:gridCol w="822960"/>
                <a:gridCol w="731520"/>
                <a:gridCol w="914400"/>
                <a:gridCol w="914400"/>
                <a:gridCol w="73152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事例</a:t>
                      </a:r>
                    </a:p>
                  </a:txBody>
                  <a:tcPr anchor="ctr"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最良手法</a:t>
                      </a:r>
                    </a:p>
                  </a:txBody>
                  <a:tcPr anchor="ctr"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最良ARI</a:t>
                      </a:r>
                    </a:p>
                  </a:txBody>
                  <a:tcPr anchor="ctr"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Oracle ARI</a:t>
                      </a:r>
                    </a:p>
                  </a:txBody>
                  <a:tcPr anchor="ctr"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達成率</a:t>
                      </a:r>
                    </a:p>
                  </a:txBody>
                  <a:tcPr anchor="ctr"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C1（最良）</a:t>
                      </a:r>
                    </a:p>
                  </a:txBody>
                  <a:tcPr anchor="ctr"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C1（ランダム）</a:t>
                      </a:r>
                    </a:p>
                  </a:txBody>
                  <a:tcPr anchor="ctr"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η²</a:t>
                      </a:r>
                    </a:p>
                  </a:txBody>
                  <a:tcPr anchor="ctr">
                    <a:solidFill>
                      <a:srgbClr val="1F77B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腎結石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2B クラスタリング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0.851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1.000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85.1%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0.034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0.695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0.428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イスラエルワクチン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2B クラスタリング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0.746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1.000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74.6%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0.005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0.770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0.432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喫煙・死亡率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1A 予測確率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0.498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1.000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49.8%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0.005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1.000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0.686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UCバークレー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1A 予測確率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0.082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1.000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8.2%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0.011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0.954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0.152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COVID-19 CFR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1B 残差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0.064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1.000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6.4%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0.001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0.778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0.171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図7. シンプソンのパラドックスの視覚的実証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333333"/>
                </a:solidFill>
              </a:defRPr>
            </a:pPr>
            <a:r>
              <a:t>5つの既報事例におけるパラドックスの可視化</a:t>
            </a:r>
          </a:p>
        </p:txBody>
      </p:sp>
      <p:pic>
        <p:nvPicPr>
          <p:cNvPr id="4" name="Picture 3" descr="fig1_paradox_demonst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0301" y="1280160"/>
            <a:ext cx="8671092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図8. コヒーレンス分析（C1）：全5事例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333333"/>
                </a:solidFill>
              </a:defRPr>
            </a:pPr>
            <a:r>
              <a:t>全事例でC1がインコヒーレンスを正確に検出（C1=0.001-0.034 vs ランダムC1=0.695-1.000）</a:t>
            </a:r>
          </a:p>
        </p:txBody>
      </p:sp>
      <p:pic>
        <p:nvPicPr>
          <p:cNvPr id="4" name="Picture 3" descr="fig3_coherence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047" y="1280160"/>
            <a:ext cx="10515600" cy="4550868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図9. 手法間比較（ARI）：全5事例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333333"/>
                </a:solidFill>
              </a:defRPr>
            </a:pPr>
            <a:r>
              <a:t>2群構造では2Bクラスタリングが最良、多群構造では1A/1Bが最良</a:t>
            </a:r>
          </a:p>
        </p:txBody>
      </p:sp>
      <p:pic>
        <p:nvPicPr>
          <p:cNvPr id="4" name="Picture 3" descr="fig2_method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5687" y="1280160"/>
            <a:ext cx="720032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図10. イータ二乗（η²）ヒートマップ（実データ）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333333"/>
                </a:solidFill>
              </a:defRPr>
            </a:pPr>
            <a:r>
              <a:t>高η²は高ARIと相関（シミュレーション結果と整合）</a:t>
            </a:r>
          </a:p>
        </p:txBody>
      </p:sp>
      <p:pic>
        <p:nvPicPr>
          <p:cNvPr id="4" name="Picture 3" descr="fig4_eta_squared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047" y="1280160"/>
            <a:ext cx="10515600" cy="4829711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図11. 効果方向の一貫性分析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333333"/>
                </a:solidFill>
              </a:defRPr>
            </a:pPr>
            <a:r>
              <a:t>層間での曝露-アウトカム関連の方向の一貫性</a:t>
            </a:r>
          </a:p>
        </p:txBody>
      </p:sp>
      <p:pic>
        <p:nvPicPr>
          <p:cNvPr id="4" name="Picture 3" descr="fig5_direction_consisten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047" y="1280160"/>
            <a:ext cx="10515600" cy="5207244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図12. 実データ検証 サマリーダッシュボード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333333"/>
                </a:solidFill>
              </a:defRPr>
            </a:pPr>
            <a:r>
              <a:t>5つのシンプソンのパラドックス適用結果の総括</a:t>
            </a:r>
          </a:p>
        </p:txBody>
      </p:sp>
      <p:pic>
        <p:nvPicPr>
          <p:cNvPr id="4" name="Picture 3" descr="fig6_summary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047" y="1280160"/>
            <a:ext cx="10515600" cy="5213616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表7. シミュレーションと実データの一致性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333333"/>
                </a:solidFill>
              </a:defRPr>
            </a:pPr>
            <a:r>
              <a:t>シミュレーションの主要知見が実データ検証で再現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752447" y="1371600"/>
          <a:ext cx="86868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3200400"/>
                <a:gridCol w="32004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知見</a:t>
                      </a:r>
                    </a:p>
                  </a:txBody>
                  <a:tcPr anchor="ctr"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シミュレーション</a:t>
                      </a:r>
                    </a:p>
                  </a:txBody>
                  <a:tcPr anchor="ctr"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実データ検証</a:t>
                      </a:r>
                    </a:p>
                  </a:txBody>
                  <a:tcPr anchor="ctr">
                    <a:solidFill>
                      <a:srgbClr val="1F77B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1B残差が最も頑健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最高ARI（0.020）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COVID-19で最良（ARI=0.064）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C1がインコヒーレンス検出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ランダム0.863 vs 提案0.001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ランダム0.70-1.00 vs 提案0.00-0.03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Z→X影響度が決定的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ARIがzxとともに増加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高η² -&gt; 高ARI</a:t>
                      </a:r>
                    </a:p>
                  </a:txBody>
                  <a:tcPr anchor="ctr">
                    <a:solidFill>
                      <a:srgbClr val="E8F0F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全手法がランダムを上回る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全シナリオ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全5事例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