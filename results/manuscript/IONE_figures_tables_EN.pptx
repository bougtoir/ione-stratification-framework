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IONE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Incoherence-Oriented Neutralisation and Extraction</a:t>
            </a:r>
            <a:br/>
            <a:r>
              <a:t>for Detecting Hidden Population Structure in Observational Studies</a:t>
            </a:r>
          </a:p>
          <a:p/>
          <a:p>
            <a:pPr algn="ctr">
              <a:defRPr sz="1600">
                <a:solidFill>
                  <a:srgbClr val="BBDEFB"/>
                </a:solidFill>
              </a:defRPr>
            </a:pPr>
            <a:r>
              <a:t>Figures and Tables</a:t>
            </a:r>
          </a:p>
          <a:p>
            <a:pPr algn="ctr">
              <a:defRPr sz="1400">
                <a:solidFill>
                  <a:srgbClr val="BBDEFB"/>
                </a:solidFill>
              </a:defRPr>
            </a:pPr>
            <a:r>
              <a:t>BMC Medical Research Methodology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Causal Directed Acyclic Graph (DAG)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Data-generating mechanism: Z (critical) -&gt; X (general) -&gt; Y (outcome)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17520" y="3200400"/>
            <a:ext cx="1463040" cy="0"/>
          </a:xfrm>
          <a:prstGeom prst="line">
            <a:avLst/>
          </a:prstGeom>
          <a:ln w="38100">
            <a:solidFill>
              <a:srgbClr val="946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223760" y="3200400"/>
            <a:ext cx="1371600" cy="0"/>
          </a:xfrm>
          <a:prstGeom prst="line">
            <a:avLst/>
          </a:prstGeom>
          <a:ln w="38100">
            <a:solidFill>
              <a:srgbClr val="946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3017520" y="3840480"/>
            <a:ext cx="5577840" cy="1188720"/>
          </a:xfrm>
          <a:prstGeom prst="line">
            <a:avLst/>
          </a:prstGeom>
          <a:ln w="25400">
            <a:solidFill>
              <a:srgbClr val="FF7F0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08960" y="2468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467BD"/>
                </a:solidFill>
              </a:defRPr>
            </a:pPr>
            <a:r>
              <a:t>Z → X</a:t>
            </a:r>
          </a:p>
          <a:p>
            <a:pPr algn="ctr">
              <a:defRPr sz="1000">
                <a:solidFill>
                  <a:srgbClr val="9467BD"/>
                </a:solidFill>
              </a:defRPr>
            </a:pPr>
            <a:r>
              <a:t>(α_jl)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4688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467BD"/>
                </a:solidFill>
              </a:defRPr>
            </a:pPr>
            <a:r>
              <a:t>X → Y</a:t>
            </a:r>
          </a:p>
          <a:p>
            <a:pPr algn="ctr">
              <a:defRPr sz="1000">
                <a:solidFill>
                  <a:srgbClr val="9467BD"/>
                </a:solidFill>
              </a:defRPr>
            </a:pPr>
            <a:r>
              <a:t>(β_Xj)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60350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7F0E"/>
                </a:solidFill>
              </a:defRPr>
            </a:pPr>
            <a:r>
              <a:t>Z → Y (direct: β_Zl, OR 1.5–3.0)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77B4"/>
                </a:solidFill>
              </a:defRPr>
            </a:pPr>
            <a:r>
              <a:t>Critical Variables Z (Withheld)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3258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A02C"/>
                </a:solidFill>
              </a:defRPr>
            </a:pPr>
            <a:r>
              <a:t>General Variables X (Measured)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2860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62728"/>
                </a:solidFill>
              </a:defRPr>
            </a:pPr>
            <a:r>
              <a:t>Outcome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1920240"/>
            <a:ext cx="2011680" cy="82296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77B4"/>
                </a:solidFill>
              </a:defRPr>
            </a:pPr>
            <a:r>
              <a:t>Z1 (Age)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N(60, 12²)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91840"/>
            <a:ext cx="2011680" cy="82296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77B4"/>
                </a:solidFill>
              </a:defRPr>
            </a:pPr>
            <a:r>
              <a:t>Z2 (Sex)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Bernoulli(0.5)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663440"/>
            <a:ext cx="2011680" cy="82296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77B4"/>
                </a:solidFill>
              </a:defRPr>
            </a:pPr>
            <a:r>
              <a:t>Z3 (BMI)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3 categories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737360"/>
            <a:ext cx="25603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X1 (HbA1c)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194560"/>
            <a:ext cx="25603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X2 (Cholesterol)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651760"/>
            <a:ext cx="25603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X3 (SBP)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108960"/>
            <a:ext cx="25603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X4 (ALT)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566160"/>
            <a:ext cx="25603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X5 (Creatinine)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023360"/>
            <a:ext cx="25603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X6 (Haemoglobin)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4480560"/>
            <a:ext cx="25603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X7 (WBC)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4937760"/>
            <a:ext cx="25603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X8 (Albumin)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5394960"/>
            <a:ext cx="25603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X9 (CRP)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5852160"/>
            <a:ext cx="25603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X10 (Uric acid)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2743200"/>
            <a:ext cx="2286000" cy="109728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62728"/>
                </a:solidFill>
              </a:defRPr>
            </a:pPr>
            <a:r>
              <a:t>Y (Binary Outcome)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Event rate 10–20%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IONE Framework: Two-Stage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Stage 1: Detection (C1 coherence indicator) → Stage 2: Extraction (stratification)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468880" y="3474720"/>
            <a:ext cx="274320" cy="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0" y="3474720"/>
            <a:ext cx="274320" cy="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869680" y="3474720"/>
            <a:ext cx="274320" cy="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iamond 6"/>
          <p:cNvSpPr/>
          <p:nvPr/>
        </p:nvSpPr>
        <p:spPr>
          <a:xfrm>
            <a:off x="3291840" y="5486400"/>
            <a:ext cx="1645920" cy="914400"/>
          </a:xfrm>
          <a:prstGeom prst="diamond">
            <a:avLst/>
          </a:prstGeom>
          <a:solidFill>
            <a:srgbClr val="FFF3E0"/>
          </a:solidFill>
          <a:ln w="254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7F0E"/>
                </a:solidFill>
              </a:defRPr>
            </a:pPr>
            <a:r>
              <a:t>C1 &lt; 0.05?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669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CA02C"/>
                </a:solidFill>
              </a:defRPr>
            </a:pPr>
            <a:r>
              <a:t>Yes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669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2728"/>
                </a:solidFill>
              </a:defRPr>
            </a:pPr>
            <a:r>
              <a:t>← No (Coherent)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828800"/>
            <a:ext cx="2103120" cy="3200400"/>
          </a:xfrm>
          <a:prstGeom prst="roundRect">
            <a:avLst/>
          </a:prstGeom>
          <a:solidFill>
            <a:srgbClr val="E0E0E0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Input Data</a:t>
            </a:r>
          </a:p>
          <a:p/>
          <a:p>
            <a:pPr algn="l">
              <a:defRPr sz="1000">
                <a:solidFill>
                  <a:srgbClr val="333333"/>
                </a:solidFill>
              </a:defRPr>
            </a:pPr>
            <a:r>
              <a:t>Observational study</a:t>
            </a:r>
            <a:br/>
            <a:r>
              <a:t>N observations</a:t>
            </a:r>
            <a:br/>
            <a:r>
              <a:t>X1...X10 (measured)</a:t>
            </a:r>
            <a:br/>
            <a:r>
              <a:t>Y (outcome)</a:t>
            </a:r>
            <a:br/>
            <a:r>
              <a:t>(Z unmeasured)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463040"/>
            <a:ext cx="2743200" cy="38404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77B4"/>
                </a:solidFill>
              </a:defRPr>
            </a:pPr>
            <a:r>
              <a:t>Stage 1: DETECTION</a:t>
            </a:r>
          </a:p>
          <a:p/>
          <a:p>
            <a:pPr algn="l">
              <a:defRPr sz="1000">
                <a:solidFill>
                  <a:srgbClr val="333333"/>
                </a:solidFill>
              </a:defRPr>
            </a:pPr>
            <a:r>
              <a:t>Compute C1 coherence indicator</a:t>
            </a:r>
            <a:br/>
            <a:r>
              <a:t>from I^2 heterogeneity</a:t>
            </a:r>
            <a:br/>
            <a:br/>
            <a:r>
              <a:t>C1 &lt; 0.05 -&gt; Incoherent</a:t>
            </a:r>
            <a:br/>
            <a:r>
              <a:t>C1 &gt;= 0.05 -&gt; Coherent</a:t>
            </a:r>
            <a:br/>
            <a:br/>
            <a:r>
              <a:t>'Warning function'</a:t>
            </a:r>
            <a:br/>
            <a:r>
              <a:t>No assumptions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463040"/>
            <a:ext cx="2743200" cy="38404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CA02C"/>
                </a:solidFill>
              </a:defRPr>
            </a:pPr>
            <a:r>
              <a:t>Stage 2: EXTRACTION</a:t>
            </a:r>
          </a:p>
          <a:p/>
          <a:p>
            <a:pPr algn="l">
              <a:defRPr sz="1000">
                <a:solidFill>
                  <a:srgbClr val="333333"/>
                </a:solidFill>
              </a:defRPr>
            </a:pPr>
            <a:r>
              <a:t>If incoherent:</a:t>
            </a:r>
            <a:br/>
            <a:br/>
            <a:r>
              <a:t>Family 1 (Decision power)</a:t>
            </a:r>
            <a:br/>
            <a:r>
              <a:t>  1A Predicted probability</a:t>
            </a:r>
            <a:br/>
            <a:r>
              <a:t>  1B Residual</a:t>
            </a:r>
            <a:br/>
            <a:r>
              <a:t>  1C Cross-validated</a:t>
            </a:r>
            <a:br/>
            <a:r>
              <a:t>  1D ML uncertainty</a:t>
            </a:r>
            <a:br/>
            <a:br/>
            <a:r>
              <a:t>Family 2 (Feature score)</a:t>
            </a:r>
            <a:br/>
            <a:r>
              <a:t>  2A PCA</a:t>
            </a:r>
            <a:br/>
            <a:r>
              <a:t>  2B Clustering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828800"/>
            <a:ext cx="2560320" cy="320040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62728"/>
                </a:solidFill>
              </a:defRPr>
            </a:pPr>
            <a:r>
              <a:t>Output</a:t>
            </a:r>
          </a:p>
          <a:p/>
          <a:p>
            <a:pPr algn="l">
              <a:defRPr sz="1000">
                <a:solidFill>
                  <a:srgbClr val="333333"/>
                </a:solidFill>
              </a:defRPr>
            </a:pPr>
            <a:r>
              <a:t>Coherent subpopulations</a:t>
            </a:r>
            <a:br/>
            <a:r>
              <a:t>for valid within-subgroup</a:t>
            </a:r>
            <a:br/>
            <a:r>
              <a:t>inference</a:t>
            </a:r>
            <a:br/>
            <a:br/>
            <a:r>
              <a:t>Bias reduction</a:t>
            </a:r>
            <a:br/>
            <a:r>
              <a:t>Paradox resolution</a:t>
            </a:r>
            <a:br/>
            <a:r>
              <a:t>Effect modification detected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IONE Methods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Two families of stratification methods plus baselines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200400" cy="82296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Family 1: Decision Power-Based</a:t>
            </a:r>
            <a:br/>
            <a:r>
              <a:t>(Outcome-Informed)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463040"/>
            <a:ext cx="3200400" cy="822960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Family 2: Feature Score-Based</a:t>
            </a:r>
            <a:br/>
            <a:r>
              <a:t>(Outcome-Free)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463040"/>
            <a:ext cx="3200400" cy="82296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Baselines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3200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F77B4"/>
                </a:solidFill>
              </a:defRPr>
            </a:pPr>
            <a:r>
              <a:t>1A: Predicted Probability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Logistic regression P(Y|X) → quantile strata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20440"/>
            <a:ext cx="3200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F77B4"/>
                </a:solidFill>
              </a:defRPr>
            </a:pPr>
            <a:r>
              <a:t>1B: Residual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|Y − p̂| → quantile strata (most robust)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3200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F77B4"/>
                </a:solidFill>
              </a:defRPr>
            </a:pPr>
            <a:r>
              <a:t>1C: Cross-Validated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K-fold CV to prevent overfitting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623560"/>
            <a:ext cx="3200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F77B4"/>
                </a:solidFill>
              </a:defRPr>
            </a:pPr>
            <a:r>
              <a:t>1D: ML Uncertainty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Random forest prediction variance → strata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468880"/>
            <a:ext cx="3200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CA02C"/>
                </a:solidFill>
              </a:defRPr>
            </a:pPr>
            <a:r>
              <a:t>2A: PCA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PC1 score → quantile strata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520440"/>
            <a:ext cx="3200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CA02C"/>
                </a:solidFill>
              </a:defRPr>
            </a:pPr>
            <a:r>
              <a:t>2B: Clustering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k-means on X → cluster = stratum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468880"/>
            <a:ext cx="3200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Random: Random assignment (lower bound)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3520440"/>
            <a:ext cx="3200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Oracle: k-means on Z (upper bound)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IONE Application Guidance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Decision framework based on η² and subgroup structure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2286000"/>
            <a:ext cx="365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766560" y="2286000"/>
            <a:ext cx="365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40" y="3931920"/>
            <a:ext cx="365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766560" y="3931920"/>
            <a:ext cx="365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40" y="5577840"/>
            <a:ext cx="365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766560" y="5577840"/>
            <a:ext cx="365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1645920"/>
            <a:ext cx="274320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CA02C"/>
                </a:solidFill>
              </a:defRPr>
            </a:pPr>
            <a:r>
              <a:t>η² &gt; 0.4</a:t>
            </a:r>
            <a:br/>
            <a:r>
              <a:t>2–3 discrete subgroups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1645920"/>
            <a:ext cx="2926080" cy="1280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Feature score clustering (2B)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645920"/>
            <a:ext cx="22860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CA02C"/>
                </a:solidFill>
              </a:defRPr>
            </a:pPr>
            <a:r>
              <a:t>Expected: ARI &gt; 0.7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Kidney stone, Israeli vaccine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40"/>
            <a:ext cx="274320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7F0E"/>
                </a:solidFill>
              </a:defRPr>
            </a:pPr>
            <a:r>
              <a:t>0.15 &lt; η² ≤ 0.4</a:t>
            </a:r>
            <a:br/>
            <a:r>
              <a:t>Multi-group / continuous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3291840"/>
            <a:ext cx="2926080" cy="1280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Decision power (1A, 1B)</a:t>
            </a:r>
            <a:br/>
            <a:r>
              <a:t>Both families recommended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3291840"/>
            <a:ext cx="22860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7F0E"/>
                </a:solidFill>
              </a:defRPr>
            </a:pPr>
            <a:r>
              <a:t>Expected: ARI 0.1–0.5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Smoking–mortality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274320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62728"/>
                </a:solidFill>
              </a:defRPr>
            </a:pPr>
            <a:r>
              <a:t>η² &lt; 0.15</a:t>
            </a:r>
            <a:br/>
            <a:r>
              <a:t>Weak traces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4937760"/>
            <a:ext cx="2926080" cy="1280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C1 detection only</a:t>
            </a:r>
            <a:br/>
            <a:r>
              <a:t>Extraction limited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4937760"/>
            <a:ext cx="22860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62728"/>
                </a:solidFill>
              </a:defRPr>
            </a:pPr>
            <a:r>
              <a:t>Expected: ARI &lt; 0.1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COVID-19, Berkeley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1. Published Simpson's Paradox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Five examples used for empirical validation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83767" y="1371600"/>
          <a:ext cx="10424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731520"/>
                <a:gridCol w="1188720"/>
                <a:gridCol w="73152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Hidden Confounder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Groups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Paradox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COVID-19 CFR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von Kugelgen 2021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50,459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Italy &gt; China overall, reversed within age groups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Kidney stone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Charig 1986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Stone 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Treatment B &gt; A overall, A &gt; B within each 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UC Berkeley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Bickel 1975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4,425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Department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Males &gt; females overall, reversed in most departments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Israeli vaccine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Morris 2021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6,100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Vaccine ineffective overall, effective in both groups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Smoking-mortality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Appleton 1996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1,314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Smokers lower mortality overall, higher within groups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2. Method Performance Ranking (Phase 1 Simulation)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Averaged across all scenarios (N=2,000; 200 repetitions per scenario)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09647" y="1371600"/>
          <a:ext cx="7772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286000"/>
                <a:gridCol w="1645920"/>
                <a:gridCol w="731520"/>
                <a:gridCol w="731520"/>
                <a:gridCol w="109728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Family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ARI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NMI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eta^2 (mean)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Oracle (k-means on Z)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Baseline (upper)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0.353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0.616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0.562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0.019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Oracle (quantile on Z)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Baseline (upper)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0.260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0.283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1B: Residual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Decision power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0.069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0.091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1D: ML uncertainty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Decision power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1A: Predicted probability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Decision power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0.014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0.053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0.069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1C: Cross-validated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Decision power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2A: PCA (k=2)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Feature score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0.042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0.052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0.098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2A: PCA (k=1)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Feature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2B: Clustering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Feature score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0.041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0.053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0.079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Random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Baseline (lower)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0.863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3. ARI by Z-&gt;X Influence Strength (K=5 strata)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The Z-&gt;X influence is the single most important determinant of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61007" y="1371600"/>
          <a:ext cx="8869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zx=0.3 (weak)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zx=0.5 (moderate)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zx=1.0 (strong)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Strong/weak ratio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1A: Predicted probability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0.004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0.030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8.7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1B: Residual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1C: Cross-validated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0.003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0.009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0.029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9.6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2A: PCA (k=2)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18.3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2B: Clustering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0.006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0.025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14.0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Oracle (k-means on Z)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0.378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0.378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0.380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4. Eta-Squared for Each Critical Variable (K=5, zx=1.0)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Age (continuous) captured best; sex (binary) captured poorly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72487" y="1371600"/>
          <a:ext cx="8046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Z1 (age)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Z2 (sex)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Z3 (BMI)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Oracle (k-means on Z)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0.312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0.982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0.663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0.652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1A: Predicted probability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0.327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0.142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1C: Cross-validated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0.322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0.007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0.090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0.140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1B: Residual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0.295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0.133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2B: Clustering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0.238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0.026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0.090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0.118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Random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5. ARI by Z-&gt;X Influence in Sensitivity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Confirming Z-&gt;X influence as the most important parameter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61007" y="1371600"/>
          <a:ext cx="8869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zx=0.2 (weak)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zx=0.5 (moderate)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zx=1.0 (strong)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Strong/weak ratio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1A: Predicted probability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0.009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0.028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17.5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1C: Cross-validated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22.3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2B: Clustering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0.006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0.024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34.3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2A: PCA (60%)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30.8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Figure 1. ARI and NMI Heatmap (Phase 1 Simulation)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Method x scenario performance across all Phase 1 conditions</a:t>
            </a:r>
          </a:p>
        </p:txBody>
      </p:sp>
      <p:pic>
        <p:nvPicPr>
          <p:cNvPr id="4" name="Picture 3" descr="heatmap_ari_n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47" y="1280160"/>
            <a:ext cx="6564601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Figure 2. Effect of Z-&gt;X Influence Strength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Sensitivity analysis: ARI increases up to 18-fold from weak to strong Z-&gt;X influence</a:t>
            </a:r>
          </a:p>
        </p:txBody>
      </p:sp>
      <p:pic>
        <p:nvPicPr>
          <p:cNvPr id="4" name="Picture 3" descr="sensitivity_zx_infl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719" y="1280160"/>
            <a:ext cx="889425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Figure 3. Eta-Squared by Method and Critical Variable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Differential capture: age (continuous) &gt;&gt; BMI (ordinal) &gt;&gt; sex (binary)</a:t>
            </a:r>
          </a:p>
        </p:txBody>
      </p:sp>
      <p:pic>
        <p:nvPicPr>
          <p:cNvPr id="4" name="Picture 3" descr="eta_squa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280160"/>
            <a:ext cx="10515600" cy="36496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Figure 4. Coherence Indicator C1 Across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Low C1 = successful detection of population incoherence; proposed methods C1~0.001 vs random C1~0.863</a:t>
            </a:r>
          </a:p>
        </p:txBody>
      </p:sp>
      <p:pic>
        <p:nvPicPr>
          <p:cNvPr id="4" name="Picture 3" descr="coherence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280160"/>
            <a:ext cx="10515600" cy="34817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Figure 5. Effect of Sample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Performance is largely insensitive to sample size (N=500 to N=10,000)</a:t>
            </a:r>
          </a:p>
        </p:txBody>
      </p:sp>
      <p:pic>
        <p:nvPicPr>
          <p:cNvPr id="4" name="Picture 3" descr="sensitivity_sample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719" y="1280160"/>
            <a:ext cx="889425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Figure 6. Phase 1 Simulation Summary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Comprehensive overview of simulation results across all methods and conditions</a:t>
            </a:r>
          </a:p>
        </p:txBody>
      </p:sp>
      <p:pic>
        <p:nvPicPr>
          <p:cNvPr id="4" name="Picture 3" descr="summar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431" y="1280160"/>
            <a:ext cx="59888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6. Summary of Empirical Validation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IONE applied to five published Simpson's paradox examples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63927" y="1371600"/>
          <a:ext cx="78638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914400"/>
                <a:gridCol w="914400"/>
                <a:gridCol w="914400"/>
                <a:gridCol w="914400"/>
                <a:gridCol w="91440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Best Method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Best ARI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Oracle ARI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Achievement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C1 (best)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C1 (random)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eta^2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Kidney stone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2B Clustering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0.851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85.1%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0.034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0.695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0.428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Israeli vaccine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2B Clustering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0.746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74.6%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0.770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0.432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Smoking-mortality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1A Pred. prob.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0.498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49.8%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0.005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0.686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UC Berkeley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1A Pred. prob.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0.152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COVID-19 CFR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1B Residual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0.064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6.4%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0.778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0.171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Figure 7. Simpson's Paradox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Visualisation of the paradox in all five published examples</a:t>
            </a:r>
          </a:p>
        </p:txBody>
      </p:sp>
      <p:pic>
        <p:nvPicPr>
          <p:cNvPr id="4" name="Picture 3" descr="fig1_paradox_demon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301" y="1280160"/>
            <a:ext cx="867109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Figure 8. Coherence Analysis (C1) Across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C1 correctly detected incoherence in all five examples (C1=0.001-0.034 vs random C1=0.695-1.000)</a:t>
            </a:r>
          </a:p>
        </p:txBody>
      </p:sp>
      <p:pic>
        <p:nvPicPr>
          <p:cNvPr id="4" name="Picture 3" descr="fig3_coherenc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280160"/>
            <a:ext cx="10515600" cy="45508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Figure 9. Method Comparison Across Examples (ARI)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2B Clustering best for 2-group; 1A/1B best for multi-group structures</a:t>
            </a:r>
          </a:p>
        </p:txBody>
      </p:sp>
      <p:pic>
        <p:nvPicPr>
          <p:cNvPr id="4" name="Picture 3" descr="fig2_metho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87" y="1280160"/>
            <a:ext cx="72003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Figure 10. Eta-Squared Heatmap (Empirical Validation)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Higher eta-squared correlates with higher ARI, consistent with simulation findings</a:t>
            </a:r>
          </a:p>
        </p:txBody>
      </p:sp>
      <p:pic>
        <p:nvPicPr>
          <p:cNvPr id="4" name="Picture 3" descr="fig4_eta_square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280160"/>
            <a:ext cx="10515600" cy="482971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Figure 11. Direction Consistency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Consistency of exposure-outcome association direction across strata</a:t>
            </a:r>
          </a:p>
        </p:txBody>
      </p:sp>
      <p:pic>
        <p:nvPicPr>
          <p:cNvPr id="4" name="Picture 3" descr="fig5_direction_consis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280160"/>
            <a:ext cx="10515600" cy="52072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Figure 12. Empirical Validation Summary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Comprehensive overview of all five Simpson's paradox applications</a:t>
            </a:r>
          </a:p>
        </p:txBody>
      </p:sp>
      <p:pic>
        <p:nvPicPr>
          <p:cNvPr id="4" name="Picture 3" descr="fig6_summar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280160"/>
            <a:ext cx="10515600" cy="521361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7. Concordance Between Simulation and Empirical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33333"/>
                </a:solidFill>
              </a:defRPr>
            </a:pPr>
            <a:r>
              <a:t>Key findings from simulation replicated in empirical validation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52447" y="1371600"/>
          <a:ext cx="8686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Simulation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Empirical Validation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1B Residual is most robust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Highest ARI (0.020)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Best for COVID-19 (ARI=0.064)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C1 detects incoherence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Random 0.863 vs proposed 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Random 0.70-1.00 vs proposed 0.00-0.03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Z-&gt;X influence is decisive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ARI increases with zx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Higher eta^2 -&gt; higher ARI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All methods outperform random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All scenarios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All five examples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